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Marcelo Domingos · Tempo sugerido: 0:25</a:t>
            </a:r>
          </a:p>
          <a:p>
            <a:r>
              <a:t>Bom dia! Nós somos a equipe do EdgeHealth.</a:t>
            </a:r>
          </a:p>
          <a:p>
            <a:r>
              <a:t>Eu sou o Marcelo Domingos e comigo estão o Marcelo Rodrigues, o Erick, o Felipe, o Matheus e o João Lucas.</a:t>
            </a:r>
          </a:p>
          <a:p>
            <a:r>
              <a:t>Em poucas palavras: o EdgeHealth monitora a rede de pequenas empresas, mostra a causa provável de uma falha e quanto ela custou.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Marcelo Domingos · Tempo sugerido: 0:45</a:t>
            </a:r>
          </a:p>
          <a:p>
            <a:r>
              <a:t>Numa empresa pequena, quando a internet ou a impressora param, ninguém fica sabendo até alguém reclamar.</a:t>
            </a:r>
          </a:p>
          <a:p>
            <a:r>
              <a:t>E mesmo quando descobrem, ninguém sabe dizer o motivo provável, nem quanto aquela parada custou.</a:t>
            </a:r>
          </a:p>
          <a:p>
            <a:r>
              <a:t>Nosso público são essas pequenas e médias empresas sem equipe de TI, o técnico que atende elas e o gestor, que quer uma explicação simples.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Marcelo Domingos · Tempo sugerido: 0:50</a:t>
            </a:r>
          </a:p>
          <a:p>
            <a:r>
              <a:t>Nossa solução funciona em cinco passos.</a:t>
            </a:r>
          </a:p>
          <a:p>
            <a:r>
              <a:t>Um coletor instalado na rede da empresa mede os equipamentos e manda as medições pro servidor.</a:t>
            </a:r>
          </a:p>
          <a:p>
            <a:r>
              <a:t>O servidor detecta a falha, calcula a severidade e faz um diagnóstico por regras, com recomendações.</a:t>
            </a:r>
          </a:p>
          <a:p>
            <a:r>
              <a:t>Ele também estima o prejuízo, e a IA explica tudo em linguagem simples pro gestor.</a:t>
            </a:r>
          </a:p>
          <a:p>
            <a:r>
              <a:t>Agora o Marcelo Rodrigues vai mostrar os principais casos de uso.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Marcelo Rodrigues Alves do Nascimento · Tempo sugerido: 0:35</a:t>
            </a:r>
          </a:p>
          <a:p>
            <a:r>
              <a:t>O primeiro caso de uso é cadastrar um dispositivo, que é entrada de dados.</a:t>
            </a:r>
          </a:p>
          <a:p>
            <a:r>
              <a:t>O técnico informa nome, IP, tipo, localização e qual coletor vai medir.</a:t>
            </a:r>
          </a:p>
          <a:p>
            <a:r>
              <a:t>Seguindo o fluxograma: a tela chama o DispositivoController, que chama o CadastrarDispositivoService, que valida e salva pelo model Dispositivo.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Marcelo Rodrigues Alves do Nascimento · Tempo sugerido: 0:45</a:t>
            </a:r>
          </a:p>
          <a:p>
            <a:r>
              <a:t>O segundo caso é o coração do sistema: o coletor envia as medições.</a:t>
            </a:r>
          </a:p>
          <a:p>
            <a:r>
              <a:t>Ele roda dentro da rede da empresa, mede os equipamentos e manda lotes de amostras com uma credencial própria, que aparece nessa tela de coletores.</a:t>
            </a:r>
          </a:p>
          <a:p>
            <a:r>
              <a:t>O servidor decide o status: uma medição ruim abre a ocorrência, três seguidas confirmam a queda. Aí ele calcula a severidade e o diagnóstico.</a:t>
            </a:r>
          </a:p>
          <a:p>
            <a:r>
              <a:t>Agora o Erick mostra a tela da ocorrência.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Erick Daniel Coelho E Silva · Tempo sugerido: 0:50</a:t>
            </a:r>
          </a:p>
          <a:p>
            <a:r>
              <a:t>Esse é o detalhe de uma ocorrência. Aqui aparecem a severidade, o diagnóstico com as causas prováveis e as recomendações.</a:t>
            </a:r>
          </a:p>
          <a:p>
            <a:r>
              <a:t>O prejuízo estimado mostra a conta aberta: horas de expediente vezes pessoas vezes custo por hora.</a:t>
            </a:r>
          </a:p>
          <a:p>
            <a:r>
              <a:t>Quando a equipe informa quantas pessoas foram afetadas, o RegistrarImpactoService recalcula a severidade e o prejuízo.</a:t>
            </a:r>
          </a:p>
          <a:p>
            <a:r>
              <a:t>Se várias falhas acontecem juntas, o repository encontra o grupo pra não contar as mesmas pessoas duas vezes.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Erick Daniel Coelho E Silva · Tempo sugerido: 0:30</a:t>
            </a:r>
          </a:p>
          <a:p>
            <a:r>
              <a:t>O quarto caso é de recuperação de dados: o histórico de falhas.</a:t>
            </a:r>
          </a:p>
          <a:p>
            <a:r>
              <a:t>Dá pra filtrar por dispositivo, estado, severidade e período, com paginação.</a:t>
            </a:r>
          </a:p>
          <a:p>
            <a:r>
              <a:t>A consulta fica no FalhaRepository.historico, que só traz falhas da empresa logada.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Felipe Barbosa Poeiras · Tempo sugerido: 0:40</a:t>
            </a:r>
          </a:p>
          <a:p>
            <a:r>
              <a:t>O quinto caso é a visão da rede, o nosso dashboard.</a:t>
            </a:r>
          </a:p>
          <a:p>
            <a:r>
              <a:t>Mostra quantos equipamentos estão online, instáveis e offline, os gráficos de latência e perda e o ranking de custo das falhas.</a:t>
            </a:r>
          </a:p>
          <a:p>
            <a:r>
              <a:t>Os números vêm de consultas SQL nos repositories, como a contagem por status e o top 5 por prejuízo.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Felipe Barbosa Poeiras · Tempo sugerido: 0:40</a:t>
            </a:r>
          </a:p>
          <a:p>
            <a:r>
              <a:t>O sistema é cliente-servidor. O frontend e a API são aplicações separadas.</a:t>
            </a:r>
          </a:p>
          <a:p>
            <a:r>
              <a:t>Em desenvolvimento rodam em dois servidores: o Vite na porta 5173 e o Flask na 5000. O frontend só conversa com a API por HTTP, com JSON.</a:t>
            </a:r>
          </a:p>
          <a:p>
            <a:r>
              <a:t>O coletor é outro cliente da mesma API, e a API é a única que fala com o banco e com o Gemini.</a:t>
            </a:r>
          </a:p>
          <a:p>
            <a:r>
              <a:t>Em produção o Flask serve o build do frontend junto com a API, no PythonAnywhere.</a:t>
            </a:r>
          </a:p>
          <a:p>
            <a:r>
              <a:t>E pra construir isso, usamos estas tecnologias.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Felipe Barbosa Poeiras · Tempo sugerido: 0:30</a:t>
            </a:r>
          </a:p>
          <a:p>
            <a:r>
              <a:t>No frontend usamos JavaScript puro com Vite e o Chart.js pros gráficos.</a:t>
            </a:r>
          </a:p>
          <a:p>
            <a:r>
              <a:t>No backend, Python com Flask e SQLAlchemy, e o banco é SQLite com migrations.</a:t>
            </a:r>
          </a:p>
          <a:p>
            <a:r>
              <a:t>A IA é o Gemini do Google, o site está no PythonAnywhere e o coletor é em Python, com um executável pra Windows.</a:t>
            </a:r>
          </a:p>
          <a:p>
            <a:r>
              <a:t>Agora o Matheus mostra como a API é organizada.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Matheus Brito Vaz Bernardes · Tempo sugerido: 0:45</a:t>
            </a:r>
          </a:p>
          <a:p>
            <a:r>
              <a:t>Dentro do backend, a API é organizada em camadas, cada uma numa pasta.</a:t>
            </a:r>
          </a:p>
          <a:p>
            <a:r>
              <a:t>Os controllers só recebem a requisição e chamam um service. São 12, um por recurso.</a:t>
            </a:r>
          </a:p>
          <a:p>
            <a:r>
              <a:t>Os services têm a regra de negócio: cada classe é um caso de uso, com o método executar. São 68.</a:t>
            </a:r>
          </a:p>
          <a:p>
            <a:r>
              <a:t>Os models fazem o CRUD, herdando de uma classe base, e os repositories têm só as consultas SQL especiais.</a:t>
            </a:r>
          </a:p>
          <a:p>
            <a:r>
              <a:t>O test_architecture falha se um controller acessar o banco ou chamar mais de um service.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Matheus Brito Vaz Bernardes · Tempo sugerido: 0:30</a:t>
            </a:r>
          </a:p>
          <a:p>
            <a:r>
              <a:t>Esse é o diagrama de classes do domínio. A empresa é o centro: ela tem usuários, coletores e dispositivos.</a:t>
            </a:r>
          </a:p>
          <a:p>
            <a:r>
              <a:t>Cada dispositivo gera métricas e pode ter falhas; cada falha tem impacto e diagnóstico, e o diagnóstico aponta recomendações.</a:t>
            </a:r>
          </a:p>
          <a:p>
            <a:r>
              <a:t>Ele é gerado a partir dos models e tem teste, então sempre corresponde ao sistema.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Matheus Brito Vaz Bernardes · Tempo sugerido: 0:35</a:t>
            </a:r>
          </a:p>
          <a:p>
            <a:r>
              <a:t>Usamos SQLite com migrations, e o create_database.sql cria o banco do zero.</a:t>
            </a:r>
          </a:p>
          <a:p>
            <a:r>
              <a:t>O CRUD é feito pelo ORM nos models. Como o SQLite não tem stored procedures, as consultas especiais ficam nos repositories.</a:t>
            </a:r>
          </a:p>
          <a:p>
            <a:r>
              <a:t>Por exemplo, o ranking de falhas usa JOIN e GROUP BY, e o ranking de custo usa uma CTE. Todas têm teste com o resultado exato.</a:t>
            </a:r>
          </a:p>
          <a:p>
            <a:r>
              <a:t>Agora o João Lucas mostra o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João Lucas Santos Batista · Tempo sugerido: 0:35</a:t>
            </a:r>
          </a:p>
          <a:p>
            <a:r>
              <a:t>O README tem a seção Funcionalidades Implementadas, com 27 funcionalidades de ponta a ponta.</a:t>
            </a:r>
          </a:p>
          <a:p>
            <a:r>
              <a:t>Seis delas são as principais, que vão além de CRUD: detecção, diagnóstico, prejuízo, IA, dashboard com ranking e relatório.</a:t>
            </a:r>
          </a:p>
          <a:p>
            <a:r>
              <a:t>Pra cada uma o README diz a tela, a rota, o service e o repository, e um teste automático confere que tudo isso existe.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João Lucas Santos Batista · Tempo sugerido: 0:50</a:t>
            </a:r>
          </a:p>
          <a:p>
            <a:r>
              <a:t>Fizemos os três bônus. A IA como serviço: o Gemini explica a ocorrência, e a gente manda só dados técnicos, nunca nome, e-mail, CNPJ ou IP.</a:t>
            </a:r>
          </a:p>
          <a:p>
            <a:r>
              <a:t>O sistema está hospedado no PythonAnywhere, com HTTPS.</a:t>
            </a:r>
          </a:p>
          <a:p>
            <a:r>
              <a:t>E tem os termos: ninguém usa o sistema sem aceitar, e a versão aceita fica registrada, junto com o aviso de privacidade da LGPD.</a:t>
            </a:r>
          </a:p>
          <a:p>
            <a:r>
              <a:t>Sobre qualidade: são 186 testes automatizados no backend e 20 no frontend, todos passando.</a:t>
            </a:r>
          </a:p>
          <a:p>
            <a:r>
              <a:t>As senhas são guardadas com hash, a sessão é protegida contra CSRF e uma empresa nunca vê os dados de outra.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Quem fala: João Lucas Santos Batista · Tempo sugerido: 0:20</a:t>
            </a:r>
          </a:p>
          <a:p>
            <a:r>
              <a:t>Agora vamos mostrar o sistema funcionando, ao vivo, no site hospedado (roteiro em apresentacao/ROTEIRO_APRESENTACAO.md).</a:t>
            </a:r>
          </a:p>
          <a:p>
            <a:r>
              <a:t>Depois da demonstração, voltem a este slide para o encerramento: obrigado, e ficamos à 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7F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903720" y="0"/>
            <a:ext cx="5287975" cy="6858000"/>
          </a:xfrm>
          <a:prstGeom prst="rect">
            <a:avLst/>
          </a:prstGeom>
          <a:solidFill>
            <a:srgbClr val="12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822960"/>
            <a:ext cx="1371600" cy="1371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377440"/>
            <a:ext cx="5943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6000" b="1">
                <a:solidFill>
                  <a:srgbClr val="FFFFFF"/>
                </a:solidFill>
                <a:latin typeface="Segoe UI"/>
              </a:rPr>
              <a:t>EdgeHealth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29000"/>
            <a:ext cx="594360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BDF2EA"/>
                </a:solidFill>
                <a:latin typeface="Segoe UI"/>
              </a:rPr>
              <a:t>Monitoramento e diagnóstico de redes para pequenas e médias empresas: detecta a falha, explica a causa provável e estima o prejuízo.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59436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[PS-3B1/2026] Projeto de Software</a:t>
            </a:r>
          </a:p>
          <a:p>
            <a:pPr algn="l">
              <a:lnSpc>
                <a:spcPct val="110000"/>
              </a:lnSpc>
            </a:pPr>
            <a:r>
              <a:rPr sz="1800" b="0">
                <a:solidFill>
                  <a:srgbClr val="BDF2EA"/>
                </a:solidFill>
                <a:latin typeface="Segoe UI"/>
              </a:rPr>
              <a:t>Colégio Cotemig · apresentação final · 07/11/2026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0" y="68580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BDF2EA"/>
                </a:solidFill>
                <a:latin typeface="Segoe UI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1188720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Marcelo Domingos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BDF2EA"/>
                </a:solidFill>
                <a:latin typeface="Segoe UI"/>
              </a:rPr>
              <a:t>Matrícula 22400362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2039112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Marcelo Rodrigues Alves do Nascimento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BDF2EA"/>
                </a:solidFill>
                <a:latin typeface="Segoe UI"/>
              </a:rPr>
              <a:t>Matrícula 12400815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889504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Erick Daniel Coelho E Silva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BDF2EA"/>
                </a:solidFill>
                <a:latin typeface="Segoe UI"/>
              </a:rPr>
              <a:t>Matrícula 12401188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739896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Felipe Barbosa Poeiras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BDF2EA"/>
                </a:solidFill>
                <a:latin typeface="Segoe UI"/>
              </a:rPr>
              <a:t>Matrícula 12402320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590288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Matheus Brito Vaz Bernardes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BDF2EA"/>
                </a:solidFill>
                <a:latin typeface="Segoe UI"/>
              </a:rPr>
              <a:t>Matrícula 12502391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5440680"/>
            <a:ext cx="484632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FFFFFF"/>
                </a:solidFill>
                <a:latin typeface="Segoe UI"/>
              </a:rPr>
              <a:t>João Lucas Santos Batista</a:t>
            </a:r>
          </a:p>
          <a:p>
            <a:pPr algn="l">
              <a:lnSpc>
                <a:spcPct val="100000"/>
              </a:lnSpc>
            </a:pPr>
            <a:r>
              <a:rPr sz="1500" b="0">
                <a:solidFill>
                  <a:srgbClr val="BDF2EA"/>
                </a:solidFill>
                <a:latin typeface="Segoe UI"/>
              </a:rPr>
              <a:t>Matrícula 12401617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PROBLEMA E PÚBLICO-ALVO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O problema e para quem 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2</a:t>
            </a:r>
          </a:p>
        </p:txBody>
      </p:sp>
      <p:sp>
        <p:nvSpPr>
          <p:cNvPr id="6" name="Oval 5"/>
          <p:cNvSpPr/>
          <p:nvPr/>
        </p:nvSpPr>
        <p:spPr>
          <a:xfrm>
            <a:off x="685800" y="1417320"/>
            <a:ext cx="685800" cy="685800"/>
          </a:xfrm>
          <a:prstGeom prst="ellips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17320"/>
            <a:ext cx="5120640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F2A37"/>
                </a:solidFill>
                <a:latin typeface="Segoe UI"/>
              </a:rPr>
              <a:t>A rede cai e a empresa só descobre quando alguém reclama.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971800"/>
            <a:ext cx="685800" cy="685800"/>
          </a:xfrm>
          <a:prstGeom prst="ellips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2971800"/>
            <a:ext cx="5120640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F2A37"/>
                </a:solidFill>
                <a:latin typeface="Segoe UI"/>
              </a:rPr>
              <a:t>Ninguém sabe dizer a causa provável da falha.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4526280"/>
            <a:ext cx="685800" cy="685800"/>
          </a:xfrm>
          <a:prstGeom prst="ellipse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526280"/>
            <a:ext cx="5120640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0">
                <a:solidFill>
                  <a:srgbClr val="1F2A37"/>
                </a:solidFill>
                <a:latin typeface="Segoe UI"/>
              </a:rPr>
              <a:t>Ninguém sabe quanto a parada custou em dinheiro.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600" y="1417320"/>
            <a:ext cx="4645152" cy="457200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F69"/>
                </a:solidFill>
                <a:latin typeface="Segoe UI"/>
              </a:rPr>
              <a:t>Público-alvo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F2A37"/>
                </a:solidFill>
                <a:latin typeface="Segoe UI"/>
              </a:rPr>
              <a:t>Pequenas e médias empresas sem equipe de TI dedicada.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F2A37"/>
                </a:solidFill>
                <a:latin typeface="Segoe UI"/>
              </a:rPr>
              <a:t>O técnico ou prestador de TI que atende essas empresas.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F2A37"/>
                </a:solidFill>
                <a:latin typeface="Segoe UI"/>
              </a:rPr>
              <a:t>O gestor, que precisa entender a falha sem termos técnicos.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Solução: medir, diagnosticar, estimar e explicar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065F69"/>
                </a:solidFill>
                <a:latin typeface="Segoe UI"/>
              </a:rPr>
              <a:t>O EdgeHealth monitora a rede da empresa, aponta a causa provável de cada falha e mostra quanto ela custou.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2057400" cy="237744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09728" bIns="109728"/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Coletor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mede os equipamentos da rede (ICMP)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624328" y="3703320"/>
            <a:ext cx="210312" cy="0"/>
          </a:xfrm>
          <a:prstGeom prst="line">
            <a:avLst/>
          </a:prstGeom>
          <a:ln w="3175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852928" y="2514600"/>
            <a:ext cx="2057400" cy="237744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09728" bIns="109728"/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065F69"/>
                </a:solidFill>
                <a:latin typeface="Segoe UI"/>
              </a:rPr>
              <a:t>Servidor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detecta a falha e calcula a severidade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928616" y="3703320"/>
            <a:ext cx="210312" cy="0"/>
          </a:xfrm>
          <a:prstGeom prst="line">
            <a:avLst/>
          </a:prstGeom>
          <a:ln w="3175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57216" y="2514600"/>
            <a:ext cx="2057400" cy="237744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09728" bIns="109728"/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065F69"/>
                </a:solidFill>
                <a:latin typeface="Segoe UI"/>
              </a:rPr>
              <a:t>Diagnóstico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causa provável e recomendações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32904" y="3703320"/>
            <a:ext cx="210312" cy="0"/>
          </a:xfrm>
          <a:prstGeom prst="line">
            <a:avLst/>
          </a:prstGeom>
          <a:ln w="3175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461504" y="2514600"/>
            <a:ext cx="2057400" cy="237744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09728" bIns="109728"/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065F69"/>
                </a:solidFill>
                <a:latin typeface="Segoe UI"/>
              </a:rPr>
              <a:t>Prejuízo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horas paradas × pessoas × custo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37192" y="3703320"/>
            <a:ext cx="210312" cy="0"/>
          </a:xfrm>
          <a:prstGeom prst="line">
            <a:avLst/>
          </a:prstGeom>
          <a:ln w="3175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65792" y="2514600"/>
            <a:ext cx="2057400" cy="237744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09728" bIns="109728"/>
          <a:lstStyle/>
          <a:p>
            <a:pPr algn="ctr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Segoe UI"/>
              </a:rPr>
              <a:t>IA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explica em português simples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2578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5B6B7B"/>
                </a:solidFill>
                <a:latin typeface="Segoe UI"/>
              </a:rPr>
              <a:t>Tudo calculado a partir de medições reais: não há dados simulados no produto.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CASO DE USO 1 · ENTRADA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Cadastrar dispositivo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15568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5B6B7B"/>
                </a:solidFill>
                <a:latin typeface="Segoe UI"/>
              </a:rPr>
              <a:t>O técnico cadastra o equipamento que será monitorado: nome, IP, tipo, local e coletor.</a:t>
            </a:r>
          </a:p>
        </p:txBody>
      </p:sp>
      <p:pic>
        <p:nvPicPr>
          <p:cNvPr id="7" name="Picture 6" descr="disposi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903720" cy="4314825"/>
          </a:xfrm>
          <a:prstGeom prst="rect">
            <a:avLst/>
          </a:prstGeom>
          <a:ln w="12700">
            <a:solidFill>
              <a:srgbClr val="D5DEE3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589520" y="1737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BD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TELA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Dispositivos.js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098280" y="2697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2880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CONTROLLER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DispositivoController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.cadastrar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98280" y="3840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589520" y="4023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SERVICE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CadastrarDispositivoService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80" y="4983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5166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MODEL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Dispositivo.salvar</a:t>
            </a:r>
          </a:p>
        </p:txBody>
      </p:sp>
      <p:pic>
        <p:nvPicPr>
          <p:cNvPr id="15" name="Picture 14" descr="fluxo-1-cadastrar-dispositiv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737360"/>
            <a:ext cx="1005840" cy="1556229"/>
          </a:xfrm>
          <a:prstGeom prst="rect">
            <a:avLst/>
          </a:prstGeom>
          <a:ln w="12700">
            <a:solidFill>
              <a:srgbClr val="D5DEE3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10561320" y="3339309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B7B"/>
                </a:solidFill>
                <a:latin typeface="Segoe UI"/>
              </a:rPr>
              <a:t>Fluxograma 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CASO DE USO 2 · ENTRADA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Coletor envia medições e o sistema detecta a falha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15568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5B6B7B"/>
                </a:solidFill>
                <a:latin typeface="Segoe UI"/>
              </a:rPr>
              <a:t>O coletor mede a rede; o servidor abre a ocorrência e faz o diagnóstico sozinho.</a:t>
            </a:r>
          </a:p>
        </p:txBody>
      </p:sp>
      <p:pic>
        <p:nvPicPr>
          <p:cNvPr id="7" name="Picture 6" descr="cole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903720" cy="4314825"/>
          </a:xfrm>
          <a:prstGeom prst="rect">
            <a:avLst/>
          </a:prstGeom>
          <a:ln w="12700">
            <a:solidFill>
              <a:srgbClr val="D5DEE3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589520" y="1737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ORIGEM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Coletor (HTTPS + credencial)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098280" y="2697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2880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CONTROLLER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ColetorApiController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.amostras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98280" y="3840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589520" y="4023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SERVICE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RegistrarMedicaoService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80" y="4983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5166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REPOSITORY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FalhaRepository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.aberta_do_dispositivo</a:t>
            </a:r>
          </a:p>
        </p:txBody>
      </p:sp>
      <p:pic>
        <p:nvPicPr>
          <p:cNvPr id="15" name="Picture 14" descr="fluxo-2-receber-amostr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737360"/>
            <a:ext cx="1005840" cy="1753805"/>
          </a:xfrm>
          <a:prstGeom prst="rect">
            <a:avLst/>
          </a:prstGeom>
          <a:ln w="12700">
            <a:solidFill>
              <a:srgbClr val="D5DEE3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10561320" y="3536885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B7B"/>
                </a:solidFill>
                <a:latin typeface="Segoe UI"/>
              </a:rPr>
              <a:t>Fluxograma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CASO DE USO 3 · ENTRADA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Ocorrência: diagnóstico, impacto e prejuízo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15568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5B6B7B"/>
                </a:solidFill>
                <a:latin typeface="Segoe UI"/>
              </a:rPr>
              <a:t>A equipe informa as pessoas afetadas; a severidade e o prejuízo são recalculados na hora.</a:t>
            </a:r>
          </a:p>
        </p:txBody>
      </p:sp>
      <p:pic>
        <p:nvPicPr>
          <p:cNvPr id="7" name="Picture 6" descr="fal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241" y="1737360"/>
            <a:ext cx="5793638" cy="4526280"/>
          </a:xfrm>
          <a:prstGeom prst="rect">
            <a:avLst/>
          </a:prstGeom>
          <a:ln w="12700">
            <a:solidFill>
              <a:srgbClr val="D5DEE3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589520" y="1737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BD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TELA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Falha.js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098280" y="2697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2880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CONTROLLER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FalhaController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.registrar_impacto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98280" y="3840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589520" y="4023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SERVICE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RegistrarImpactoService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80" y="4983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5166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REPOSITORY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FalhaRepository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.grupo_compartilhado</a:t>
            </a:r>
          </a:p>
        </p:txBody>
      </p:sp>
      <p:pic>
        <p:nvPicPr>
          <p:cNvPr id="15" name="Picture 14" descr="fluxo-3-registrar-impac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737360"/>
            <a:ext cx="1005840" cy="3172758"/>
          </a:xfrm>
          <a:prstGeom prst="rect">
            <a:avLst/>
          </a:prstGeom>
          <a:ln w="12700">
            <a:solidFill>
              <a:srgbClr val="D5DEE3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10561320" y="4955838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B7B"/>
                </a:solidFill>
                <a:latin typeface="Segoe UI"/>
              </a:rPr>
              <a:t>Fluxograma 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CASO DE USO 4 · RECUPERAÇÃO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Histórico de falhas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15568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5B6B7B"/>
                </a:solidFill>
                <a:latin typeface="Segoe UI"/>
              </a:rPr>
              <a:t>Todas as ocorrências da empresa, com filtros por dispositivo, estado, severidade e período.</a:t>
            </a:r>
          </a:p>
        </p:txBody>
      </p:sp>
      <p:pic>
        <p:nvPicPr>
          <p:cNvPr id="7" name="Picture 6" descr="histor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143" y="1737360"/>
            <a:ext cx="5893833" cy="4526280"/>
          </a:xfrm>
          <a:prstGeom prst="rect">
            <a:avLst/>
          </a:prstGeom>
          <a:ln w="12700">
            <a:solidFill>
              <a:srgbClr val="D5DEE3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589520" y="1737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BD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TELA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Historico.js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098280" y="2697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2880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CONTROLLER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FalhaController.listar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98280" y="3840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589520" y="4023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SERVICE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ListarFalhasService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80" y="4983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5166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REPOSITORY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FalhaRepository.historico</a:t>
            </a:r>
          </a:p>
        </p:txBody>
      </p:sp>
      <p:pic>
        <p:nvPicPr>
          <p:cNvPr id="15" name="Picture 14" descr="fluxo-4-historico-falh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737360"/>
            <a:ext cx="1005840" cy="1457441"/>
          </a:xfrm>
          <a:prstGeom prst="rect">
            <a:avLst/>
          </a:prstGeom>
          <a:ln w="12700">
            <a:solidFill>
              <a:srgbClr val="D5DEE3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10561320" y="3240521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B7B"/>
                </a:solidFill>
                <a:latin typeface="Segoe UI"/>
              </a:rPr>
              <a:t>Fluxograma 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CASO DE USO 5 · RECUPERAÇÃO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Visão da rede (dashboard)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115568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5B6B7B"/>
                </a:solidFill>
                <a:latin typeface="Segoe UI"/>
              </a:rPr>
              <a:t>Estado atual da rede, gráficos de latência e perda e o ranking dos aparelhos que mais custaram.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666" y="1737360"/>
            <a:ext cx="6736788" cy="4526280"/>
          </a:xfrm>
          <a:prstGeom prst="rect">
            <a:avLst/>
          </a:prstGeom>
          <a:ln w="12700">
            <a:solidFill>
              <a:srgbClr val="D5DEE3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7589520" y="1737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BD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TELA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Dashboard.js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098280" y="2697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2880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CONTROLLER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DashboardController.obter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98280" y="3840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589520" y="4023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SERVICE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GerarDashboardService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098280" y="4983480"/>
            <a:ext cx="0" cy="18288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89520" y="5166360"/>
            <a:ext cx="3017520" cy="960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36576" bIns="36576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87F8C"/>
                </a:solidFill>
                <a:latin typeface="Segoe UI"/>
              </a:rPr>
              <a:t>REPOSITORY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RankingCustoRepository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1F2A37"/>
                </a:solidFill>
                <a:latin typeface="Segoe UI"/>
              </a:rPr>
              <a:t>.top_dispositivos</a:t>
            </a:r>
          </a:p>
        </p:txBody>
      </p:sp>
      <p:pic>
        <p:nvPicPr>
          <p:cNvPr id="15" name="Picture 14" descr="fluxo-5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1737360"/>
            <a:ext cx="1005840" cy="463148"/>
          </a:xfrm>
          <a:prstGeom prst="rect">
            <a:avLst/>
          </a:prstGeom>
          <a:ln w="12700">
            <a:solidFill>
              <a:srgbClr val="D5DEE3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10561320" y="2246228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200" b="0">
                <a:solidFill>
                  <a:srgbClr val="5B6B7B"/>
                </a:solidFill>
                <a:latin typeface="Segoe UI"/>
              </a:rPr>
              <a:t>Fluxograma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Arquitetura cliente-servidor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2834640" cy="1737360"/>
          </a:xfrm>
          <a:prstGeom prst="roundRect">
            <a:avLst>
              <a:gd name="adj" fmla="val 8000"/>
            </a:avLst>
          </a:prstGeom>
          <a:solidFill>
            <a:srgbClr val="BD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65F69"/>
                </a:solidFill>
                <a:latin typeface="Segoe UI"/>
              </a:rPr>
              <a:t>Cliente (frontend)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Navegador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Vite + JavaScript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Chart.js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1234440"/>
            <a:ext cx="3749039" cy="420624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 w="1905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065F69"/>
                </a:solidFill>
                <a:latin typeface="Segoe UI"/>
              </a:rPr>
              <a:t>Servidor: API Flask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46320" y="1874519"/>
            <a:ext cx="32004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Controllers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446520" y="2651760"/>
            <a:ext cx="0" cy="36576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846320" y="3017519"/>
            <a:ext cx="32004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Services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446520" y="3794760"/>
            <a:ext cx="0" cy="365760"/>
          </a:xfrm>
          <a:prstGeom prst="line">
            <a:avLst/>
          </a:prstGeom>
          <a:ln w="2540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846320" y="4160519"/>
            <a:ext cx="320040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87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Models + Repositories</a:t>
            </a:r>
          </a:p>
        </p:txBody>
      </p:sp>
      <p:sp>
        <p:nvSpPr>
          <p:cNvPr id="13" name="Can 12"/>
          <p:cNvSpPr/>
          <p:nvPr/>
        </p:nvSpPr>
        <p:spPr>
          <a:xfrm>
            <a:off x="9646920" y="3611880"/>
            <a:ext cx="2103120" cy="1463040"/>
          </a:xfrm>
          <a:prstGeom prst="can">
            <a:avLst/>
          </a:prstGeom>
          <a:solidFill>
            <a:srgbClr val="12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SQLite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13 tabelas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1463040"/>
            <a:ext cx="2377440" cy="11887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ctr">
              <a:spcAft>
                <a:spcPts val="400"/>
              </a:spcAft>
            </a:pPr>
            <a:r>
              <a:rPr sz="2000" b="1">
                <a:solidFill>
                  <a:srgbClr val="065F69"/>
                </a:solidFill>
                <a:latin typeface="Segoe UI"/>
              </a:rPr>
              <a:t>Google Gemini</a:t>
            </a:r>
          </a:p>
          <a:p>
            <a:pPr algn="ctr">
              <a:spcAft>
                <a:spcPts val="400"/>
              </a:spcAft>
            </a:pPr>
            <a:r>
              <a:rPr sz="1800" b="0">
                <a:solidFill>
                  <a:srgbClr val="1F2A37"/>
                </a:solidFill>
                <a:latin typeface="Segoe UI"/>
              </a:rPr>
              <a:t>IA como serviço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2834640" cy="150876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"/>
              </a:rPr>
              <a:t>Coletor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Na rede da empresa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FFFFFF"/>
                </a:solidFill>
                <a:latin typeface="Segoe UI"/>
              </a:rPr>
              <a:t>mede por ICMP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29000" y="2331720"/>
            <a:ext cx="1097280" cy="0"/>
          </a:xfrm>
          <a:prstGeom prst="line">
            <a:avLst/>
          </a:prstGeom>
          <a:ln w="3175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880360" y="1947672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>
                <a:solidFill>
                  <a:srgbClr val="5B6B7B"/>
                </a:solidFill>
                <a:latin typeface="Segoe UI"/>
              </a:rPr>
              <a:t>HTTP / JSON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429000" y="4663440"/>
            <a:ext cx="1097280" cy="0"/>
          </a:xfrm>
          <a:prstGeom prst="line">
            <a:avLst/>
          </a:prstGeom>
          <a:ln w="3175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880360" y="4279392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0">
                <a:solidFill>
                  <a:srgbClr val="5B6B7B"/>
                </a:solidFill>
                <a:latin typeface="Segoe UI"/>
              </a:rPr>
              <a:t>HTTPS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366760" y="4343400"/>
            <a:ext cx="1234440" cy="0"/>
          </a:xfrm>
          <a:prstGeom prst="line">
            <a:avLst/>
          </a:prstGeom>
          <a:ln w="3175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366760" y="2057400"/>
            <a:ext cx="1097280" cy="0"/>
          </a:xfrm>
          <a:prstGeom prst="line">
            <a:avLst/>
          </a:prstGeom>
          <a:ln w="31750">
            <a:solidFill>
              <a:srgbClr val="087F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818120" y="1673352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>
                <a:solidFill>
                  <a:srgbClr val="5B6B7B"/>
                </a:solidFill>
                <a:latin typeface="Segoe UI"/>
              </a:rPr>
              <a:t>só dados técnicos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5B6B7B"/>
                </a:solidFill>
                <a:latin typeface="Segoe UI"/>
              </a:rPr>
              <a:t>Em desenvolvimento: Vite em :5173 e Flask em :5000, servidores separados. Em produção, o Flask serve o build do frontend e a API (PythonAnywhere).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Tecnologias utilizadas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BD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F69"/>
                </a:solidFill>
                <a:latin typeface="Segoe UI"/>
              </a:rPr>
              <a:t>Frontend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F2A37"/>
                </a:solidFill>
                <a:latin typeface="Segoe UI"/>
              </a:rPr>
              <a:t>JavaScript, Vite 8 e Chart.js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37160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F69"/>
                </a:solidFill>
                <a:latin typeface="Segoe UI"/>
              </a:rPr>
              <a:t>Backend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F2A37"/>
                </a:solidFill>
                <a:latin typeface="Segoe UI"/>
              </a:rPr>
              <a:t>Python 3.12, Flask 3.1 e SQLAlchemy 2.0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8" y="137160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BD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F69"/>
                </a:solidFill>
                <a:latin typeface="Segoe UI"/>
              </a:rPr>
              <a:t>Banco de dados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F2A37"/>
                </a:solidFill>
                <a:latin typeface="Segoe UI"/>
              </a:rPr>
              <a:t>SQLite e Alembic (migrations)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4904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F69"/>
                </a:solidFill>
                <a:latin typeface="Segoe UI"/>
              </a:rPr>
              <a:t>IA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F2A37"/>
                </a:solidFill>
                <a:latin typeface="Segoe UI"/>
              </a:rPr>
              <a:t>Google Gemini (API REST)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79" y="374904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BD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F69"/>
                </a:solidFill>
                <a:latin typeface="Segoe UI"/>
              </a:rPr>
              <a:t>Hospedagem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F2A37"/>
                </a:solidFill>
                <a:latin typeface="Segoe UI"/>
              </a:rPr>
              <a:t>PythonAnywhere, com HTTPS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8" y="3749040"/>
            <a:ext cx="3520440" cy="210312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65F69"/>
                </a:solidFill>
                <a:latin typeface="Segoe UI"/>
              </a:rPr>
              <a:t>Coletor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F2A37"/>
                </a:solidFill>
                <a:latin typeface="Segoe UI"/>
              </a:rPr>
              <a:t>Python + icmplib; .exe para Windows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ORGANIZAÇÃO DO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API em camadas: os diretórios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11064240" cy="4206240"/>
          </a:xfrm>
          <a:prstGeom prst="roundRect">
            <a:avLst>
              <a:gd name="adj" fmla="val 4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2233A"/>
                </a:solidFill>
                <a:latin typeface="Consolas"/>
              </a:rPr>
              <a:t>backend/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481328"/>
            <a:ext cx="6766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1F2A37"/>
                </a:solidFill>
                <a:latin typeface="Segoe UI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901952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065F69"/>
                </a:solidFill>
                <a:latin typeface="Consolas"/>
              </a:rPr>
              <a:t>├── controllers/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6766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1F2A37"/>
                </a:solidFill>
                <a:latin typeface="Segoe UI"/>
              </a:rPr>
              <a:t>12 classes, uma por recurso + rotas.py (39 rotas)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40864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065F69"/>
                </a:solidFill>
                <a:latin typeface="Consolas"/>
              </a:rPr>
              <a:t>├── services/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2359152"/>
            <a:ext cx="6766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1F2A37"/>
                </a:solidFill>
                <a:latin typeface="Segoe UI"/>
              </a:rPr>
              <a:t>68 classes, um caso de uso cada (executar)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79776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065F69"/>
                </a:solidFill>
                <a:latin typeface="Consolas"/>
              </a:rPr>
              <a:t>├── models/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798064"/>
            <a:ext cx="6766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1F2A37"/>
                </a:solidFill>
                <a:latin typeface="Segoe UI"/>
              </a:rPr>
              <a:t>13 entidades; BaseModel com o CRUD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18688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065F69"/>
                </a:solidFill>
                <a:latin typeface="Consolas"/>
              </a:rPr>
              <a:t>├── repositories/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236976"/>
            <a:ext cx="6766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1F2A37"/>
                </a:solidFill>
                <a:latin typeface="Segoe UI"/>
              </a:rPr>
              <a:t>13 classes, só consultas SQL especiais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065F69"/>
                </a:solidFill>
                <a:latin typeface="Consolas"/>
              </a:rPr>
              <a:t>├── database/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675888"/>
            <a:ext cx="6766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1F2A37"/>
                </a:solidFill>
                <a:latin typeface="Segoe UI"/>
              </a:rPr>
              <a:t>create_database.sql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096512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065F69"/>
                </a:solidFill>
                <a:latin typeface="Consolas"/>
              </a:rPr>
              <a:t>└── app/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4114800"/>
            <a:ext cx="6766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1F2A37"/>
                </a:solidFill>
                <a:latin typeface="Segoe UI"/>
              </a:rPr>
              <a:t>configuração, segurança e validação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35424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2233A"/>
                </a:solidFill>
                <a:latin typeface="Consolas"/>
              </a:rPr>
              <a:t>frontend/src/pages/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4553712"/>
            <a:ext cx="6766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1F2A37"/>
                </a:solidFill>
                <a:latin typeface="Segoe UI"/>
              </a:rPr>
              <a:t>9 telas; services/api.js faz o fetch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974336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12233A"/>
                </a:solidFill>
                <a:latin typeface="Consolas"/>
              </a:rPr>
              <a:t>collector/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4992624"/>
            <a:ext cx="67665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1F2A37"/>
                </a:solidFill>
                <a:latin typeface="Segoe UI"/>
              </a:rPr>
              <a:t>coletor remoto (Python e .exe)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669280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5B6B7B"/>
                </a:solidFill>
                <a:latin typeface="Segoe UI"/>
              </a:rPr>
              <a:t>Tela → Controller → Service → Model / Repository → Banco. Um teste automático falha se uma camada pular a outra.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MODELAGEM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Diagrama de classes do domínio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12</a:t>
            </a:r>
          </a:p>
        </p:txBody>
      </p:sp>
      <p:pic>
        <p:nvPicPr>
          <p:cNvPr id="6" name="Picture 5" descr="diagrama-clas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112" y="1188720"/>
            <a:ext cx="3755455" cy="5120640"/>
          </a:xfrm>
          <a:prstGeom prst="rect">
            <a:avLst/>
          </a:prstGeom>
          <a:ln w="12700">
            <a:solidFill>
              <a:srgbClr val="D5DEE3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400800" y="146304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320040">
              <a:spcAft>
                <a:spcPts val="10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13 entidades, com os atributos principais.</a:t>
            </a:r>
          </a:p>
          <a:p>
            <a:pPr marL="320040" indent="-320040">
              <a:spcAft>
                <a:spcPts val="10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Relações com cardinalidade: uma Empresa tem vários Dispositivos; um Dispositivo tem várias Falhas.</a:t>
            </a:r>
          </a:p>
          <a:p>
            <a:pPr marL="320040" indent="-320040">
              <a:spcAft>
                <a:spcPts val="10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Cada Falha tem um Impacto e um Diagnóstico com Recomendações.</a:t>
            </a:r>
          </a:p>
          <a:p>
            <a:pPr marL="320040" indent="-320040">
              <a:spcAft>
                <a:spcPts val="10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Gerado a partir dos Models: um teste falha se o diagrama ficar diferente do código.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PERSISTÊNCIA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Banco de dados e SQL nos Repositories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320040">
              <a:spcAft>
                <a:spcPts val="10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SQLite, com o esquema versionado em migrations (Alembic).</a:t>
            </a:r>
          </a:p>
          <a:p>
            <a:pPr marL="320040" indent="-320040">
              <a:spcAft>
                <a:spcPts val="10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database/create_database.sql cria o banco inteiro.</a:t>
            </a:r>
          </a:p>
          <a:p>
            <a:pPr marL="320040" indent="-320040">
              <a:spcAft>
                <a:spcPts val="10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CRUD pelo ORM (SQLAlchemy) nos Models.</a:t>
            </a:r>
          </a:p>
          <a:p>
            <a:pPr marL="320040" indent="-320040">
              <a:spcAft>
                <a:spcPts val="10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O SQLite não tem stored procedures: as consultas especiais ficam nos Repositories.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0" y="1371600"/>
          <a:ext cx="60350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017520"/>
              </a:tblGrid>
              <a:tr h="73152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Consulta</a:t>
                      </a:r>
                    </a:p>
                  </a:txBody>
                  <a:tcPr>
                    <a:solidFill>
                      <a:srgbClr val="087F8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Segoe UI"/>
                        </a:rPr>
                        <a:t>SQL</a:t>
                      </a:r>
                    </a:p>
                  </a:txBody>
                  <a:tcPr>
                    <a:solidFill>
                      <a:srgbClr val="087F8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Consolas"/>
                        </a:rPr>
                        <a:t>FalhaRepository</a:t>
                      </a:r>
                    </a:p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Consolas"/>
                        </a:rPr>
                        <a:t>.ranking_dispositivos</a:t>
                      </a:r>
                    </a:p>
                  </a:txBody>
                  <a:tcPr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Segoe UI"/>
                        </a:rPr>
                        <a:t>JOIN + GROUP BY + ORDER BY + LIMIT</a:t>
                      </a:r>
                    </a:p>
                  </a:txBody>
                  <a:tcPr>
                    <a:solidFill>
                      <a:srgbClr val="F1F6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Consolas"/>
                        </a:rPr>
                        <a:t>RankingCustoRepository</a:t>
                      </a:r>
                    </a:p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Consolas"/>
                        </a:rPr>
                        <a:t>.top_dispositivos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Segoe UI"/>
                        </a:rPr>
                        <a:t>CTE + LEFT JOIN + ORDER BY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Consolas"/>
                        </a:rPr>
                        <a:t>DashboardRepository</a:t>
                      </a:r>
                    </a:p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Consolas"/>
                        </a:rPr>
                        <a:t>.contagem_por_status</a:t>
                      </a:r>
                    </a:p>
                  </a:txBody>
                  <a:tcPr>
                    <a:solidFill>
                      <a:srgbClr val="F1F6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Segoe UI"/>
                        </a:rPr>
                        <a:t>COALESCE + GROUP BY</a:t>
                      </a:r>
                    </a:p>
                  </a:txBody>
                  <a:tcPr>
                    <a:solidFill>
                      <a:srgbClr val="F1F6F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Consolas"/>
                        </a:rPr>
                        <a:t>FalhaRepository.historico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Segoe UI"/>
                        </a:rPr>
                        <a:t>JOIN + WHERE + LIMIT/OFFSET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0" y="5212080"/>
            <a:ext cx="60350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5B6B7B"/>
                </a:solidFill>
                <a:latin typeface="Segoe UI"/>
              </a:rPr>
              <a:t>Todas testadas com o resultado exato esperado.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DOCUMENTAÇÃO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README e funcionalidades implementadas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Segoe UI"/>
              </a:rPr>
              <a:t>27</a:t>
            </a:r>
          </a:p>
          <a:p>
            <a:pPr algn="ctr">
              <a:spcAft>
                <a:spcPts val="400"/>
              </a:spcAft>
            </a:pPr>
            <a:r>
              <a:rPr sz="2400" b="0">
                <a:solidFill>
                  <a:srgbClr val="FFFFFF"/>
                </a:solidFill>
                <a:latin typeface="Segoe UI"/>
              </a:rPr>
              <a:t>funcionalidades implementadas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79476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12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Segoe UI"/>
              </a:rPr>
              <a:t>6</a:t>
            </a:r>
          </a:p>
          <a:p>
            <a:pPr algn="ctr">
              <a:spcAft>
                <a:spcPts val="400"/>
              </a:spcAft>
            </a:pPr>
            <a:r>
              <a:rPr sz="2400" b="0">
                <a:solidFill>
                  <a:srgbClr val="FFFFFF"/>
                </a:solidFill>
                <a:latin typeface="Segoe UI"/>
              </a:rPr>
              <a:t>principais, além de CRUD (★)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325880"/>
            <a:ext cx="71323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065F69"/>
                </a:solidFill>
                <a:latin typeface="Segoe UI"/>
              </a:rPr>
              <a:t>As 6 funcionalidades principais (★):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1828800"/>
            <a:ext cx="71323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320040">
              <a:spcAft>
                <a:spcPts val="4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Detecção de falhas pelo coletor</a:t>
            </a:r>
          </a:p>
          <a:p>
            <a:pPr marL="320040" indent="-320040">
              <a:spcAft>
                <a:spcPts val="4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Diagnóstico com recomendações</a:t>
            </a:r>
          </a:p>
          <a:p>
            <a:pPr marL="320040" indent="-320040">
              <a:spcAft>
                <a:spcPts val="4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Prejuízo estimado de cada falha</a:t>
            </a:r>
          </a:p>
          <a:p>
            <a:pPr marL="320040" indent="-320040">
              <a:spcAft>
                <a:spcPts val="4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Explicação com IA</a:t>
            </a:r>
          </a:p>
          <a:p>
            <a:pPr marL="320040" indent="-320040">
              <a:spcAft>
                <a:spcPts val="4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Dashboard com ranking de custo</a:t>
            </a:r>
          </a:p>
          <a:p>
            <a:pPr marL="320040" indent="-320040">
              <a:spcAft>
                <a:spcPts val="400"/>
              </a:spcAft>
              <a:buChar char="•"/>
            </a:pPr>
            <a:r>
              <a:rPr sz="2200">
                <a:solidFill>
                  <a:srgbClr val="1F2A37"/>
                </a:solidFill>
                <a:latin typeface="Segoe UI"/>
              </a:rPr>
              <a:t>Relatório ZIP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074920"/>
            <a:ext cx="713232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0">
                <a:solidFill>
                  <a:srgbClr val="5B6B7B"/>
                </a:solidFill>
                <a:latin typeface="Segoe UI"/>
              </a:rPr>
              <a:t>Cada linha do README diz a tela, a rota, o Service e o Repository. Um teste confere se tudo existe no código.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56692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0116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87F8C"/>
                </a:solidFill>
                <a:latin typeface="Segoe UI"/>
              </a:rPr>
              <a:t>DIFERENCIAIS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11480"/>
            <a:ext cx="10972800" cy="685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33A"/>
                </a:solidFill>
                <a:latin typeface="Segoe UI"/>
              </a:rPr>
              <a:t>Bônus e qualidade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74552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>
                <a:solidFill>
                  <a:srgbClr val="5B6B7B"/>
                </a:solidFill>
                <a:latin typeface="Segoe UI"/>
              </a:rPr>
              <a:t>EdgeHealth · Projeto de Software · PS-3B1/2026   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BD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65F69"/>
                </a:solidFill>
                <a:latin typeface="Segoe UI"/>
              </a:rPr>
              <a:t>IA como serviço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Gemini explica a falha.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Só dados técnicos: nunca nome, e-mail ou IP.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79" y="1325880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BD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65F69"/>
                </a:solidFill>
                <a:latin typeface="Segoe UI"/>
              </a:rPr>
              <a:t>Hospedagem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PythonAnywhere,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com HTTPS.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marcelodomingos.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pythonanywhere.com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18" y="1325880"/>
            <a:ext cx="3520440" cy="2606040"/>
          </a:xfrm>
          <a:prstGeom prst="roundRect">
            <a:avLst>
              <a:gd name="adj" fmla="val 8000"/>
            </a:avLst>
          </a:prstGeom>
          <a:solidFill>
            <a:srgbClr val="BDF2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65F69"/>
                </a:solidFill>
                <a:latin typeface="Segoe UI"/>
              </a:rPr>
              <a:t>Termos de consentimento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Aceite obrigatório e com versão registrada.</a:t>
            </a:r>
          </a:p>
          <a:p>
            <a:pPr algn="l">
              <a:spcAft>
                <a:spcPts val="400"/>
              </a:spcAft>
            </a:pPr>
            <a:r>
              <a:rPr sz="2000" b="0">
                <a:solidFill>
                  <a:srgbClr val="1F2A37"/>
                </a:solidFill>
                <a:latin typeface="Segoe UI"/>
              </a:rPr>
              <a:t>Aviso de Privacidade (LGPD).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160520"/>
            <a:ext cx="11018520" cy="2057400"/>
          </a:xfrm>
          <a:prstGeom prst="roundRect">
            <a:avLst>
              <a:gd name="adj" fmla="val 8000"/>
            </a:avLst>
          </a:prstGeom>
          <a:solidFill>
            <a:srgbClr val="F1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065F69"/>
                </a:solidFill>
                <a:latin typeface="Segoe UI"/>
              </a:rPr>
              <a:t>Qualidade e segurança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F2A37"/>
                </a:solidFill>
                <a:latin typeface="Segoe UI"/>
              </a:rPr>
              <a:t>186 testes no backend e 20 no frontend, todos passando.</a:t>
            </a:r>
          </a:p>
          <a:p>
            <a:pPr algn="l">
              <a:spcAft>
                <a:spcPts val="400"/>
              </a:spcAft>
            </a:pPr>
            <a:r>
              <a:rPr sz="2200" b="0">
                <a:solidFill>
                  <a:srgbClr val="1F2A37"/>
                </a:solidFill>
                <a:latin typeface="Segoe UI"/>
              </a:rPr>
              <a:t>Senhas com hash, sessão protegida contra CSRF, cada empresa só vê os próprios dados.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33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1005840" cy="10058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011680"/>
            <a:ext cx="1051560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5400" b="1">
                <a:solidFill>
                  <a:srgbClr val="FFFFFF"/>
                </a:solidFill>
                <a:latin typeface="Segoe UI"/>
              </a:rPr>
              <a:t>Demonstração ao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105156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1">
                <a:solidFill>
                  <a:srgbClr val="BDF2EA"/>
                </a:solidFill>
                <a:latin typeface="Segoe UI"/>
              </a:rPr>
              <a:t>Site: marcelodomingos.pythonanywhere.com</a:t>
            </a:r>
          </a:p>
          <a:p>
            <a:pPr algn="l">
              <a:lnSpc>
                <a:spcPct val="130000"/>
              </a:lnSpc>
            </a:pPr>
            <a:r>
              <a:rPr sz="2200" b="0">
                <a:solidFill>
                  <a:srgbClr val="FFFFFF"/>
                </a:solidFill>
                <a:latin typeface="Segoe UI"/>
              </a:rPr>
              <a:t>Repositório: github.com/MarceloRodriguesDoNascimento/EdgeHealth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120640"/>
            <a:ext cx="10515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Obrigado! Perguntas?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